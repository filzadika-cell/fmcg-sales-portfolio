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 · 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FMCG Sales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Analytics.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685800" y="4480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on Indonesian FMCG distribution — turning 15,806 transactions into eight strategic recommendations.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5669280"/>
            <a:ext cx="13716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Data Professional · FMCG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18120" y="5806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893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Python  ·  Tableau  ·  Excel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ABOUT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ABOUT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sales experience with analytics.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[Your Name], a sales and data professional in the FMCG industry.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working closely with sales performance, distribution, and channel data, I learned that the most valuable insights rarely come from dashboards alone — they come from connecting numbers to ground reality.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5720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portfolio is my transition into a Data Analyst / BI Analyst role: combining domain knowledge of FMCG with analytical rigor in SQL, Python, and Tableau.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role:  Data Analyst  ·  Business Intelligence Analyst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&amp; reporting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raw sales data into clear narratives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3794760"/>
            <a:ext cx="4572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· Excel-based scorecards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4663440"/>
            <a:ext cx="4572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understanding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achievement vs target, channel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5532120"/>
            <a:ext cx="4572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(advanced) · Tableau · SQL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portfolio demonstrates.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15,806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08076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across Indonesia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77824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· 5 principals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107899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 →  cleaning  →  SQL analysis  →  Python visualization  →  Tableau dashboard  →  business recommendations.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FMCG context: actual sales vs target by branch, principal, and SKU; seasonality (Lebaran, year-end); and Pareto distribution of revenue.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workflow.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Questions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eight questions a sales leader actually asks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416052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2440" y="274320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282440" y="33832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2440" y="374904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realistic 24-month transaction dataset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82440" y="416052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9080" y="274320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879080" y="33832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79080" y="374904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dedupe, fix dates, handle outliers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9080" y="416052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3484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functions, CTEs, Pareto, achievement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85216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2440" y="443484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282440" y="50749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&amp; Tableau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82440" y="54406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patterns; publish interactive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82440" y="585216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79080" y="443484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879080" y="50749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79080" y="54406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prioritized actions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79080" y="585216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QUESTIONS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QUESTIONS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questions, answered with SQL.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and profit margin in 2024?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principals by revenue contribution?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achievement vs target (2024)?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best-selling products?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22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YoY (2023 vs 2024)?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× principal achievement matrix?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growth: who leads, who lags?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4389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Pareto: 80% of revenue from how many SKUs?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57784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used:  CTEs  ·  Window functions (RANK, SUM OVER)  ·  CASE WHEN  ·  multi-table JOINs  ·  NULLIF  ·  COALESCE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DATA CLEANING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CLEANING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data is messy. Here's how I handled it.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rows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16,045  →  15,966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drop_duplicates(keep='first')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NaN  →  0 missing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rows where qty / revenue null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values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rows  →  0 rows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quantity &gt; 0 AND revenue &gt; 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45262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Whitespace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branch_id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Multi-format string normalization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FINDING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Lebaran is the single biggest sales lever.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2024 grew  </a:t>
            </a:r>
            <a:pPr indent="0" marL="0">
              <a:buNone/>
            </a:pPr>
            <a:r>
              <a:rPr lang="en-US" sz="18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+29.6% YoY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Lebaran demand drives Q1–Q2 spikes — particularly March and April. The +29.6% jump in April 2024 is not a fluke; it's a recurring window for inventory and promotion planning.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Lock 1.5× safety stock for Mar–Apr; redirect promo budget to recover slower months.</a:t>
            </a:r>
            <a:endParaRPr lang="en-US" sz="1200" dirty="0"/>
          </a:p>
        </p:txBody>
      </p:sp>
      <p:pic>
        <p:nvPicPr>
          <p:cNvPr id="9" name="Image 0" descr="/home/claude/portfolio/docs/editorial/01_monthly_y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468880"/>
            <a:ext cx="5760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FINDING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80/20 rule is alive — and well-defined.</a:t>
            </a:r>
            <a:endParaRPr lang="en-US" sz="3600" dirty="0"/>
          </a:p>
        </p:txBody>
      </p:sp>
      <p:pic>
        <p:nvPicPr>
          <p:cNvPr id="6" name="Image 0" descr="/home/claude/portfolio/docs/editorial/02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68880"/>
            <a:ext cx="713232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SKUs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41248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80% of total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12480" y="3794760"/>
            <a:ext cx="30175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15.6%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41248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product alone (Dancow)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0" y="5074920"/>
            <a:ext cx="30175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SKUs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412480" y="5852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only 20% — review for promo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FINDING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performance varies by 59 percentage points.</a:t>
            </a:r>
            <a:endParaRPr lang="en-US" sz="3200" dirty="0"/>
          </a:p>
        </p:txBody>
      </p:sp>
      <p:pic>
        <p:nvPicPr>
          <p:cNvPr id="6" name="Image 0" descr="/home/claude/portfolio/docs/editorial/03_branch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77440"/>
            <a:ext cx="640080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Makassar  +49.2%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Timur  −9.6%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9520" y="3749040"/>
            <a:ext cx="3840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42976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products, same targets — yet a 59-point spread. The variance lives in execution: outlet coverage, sales team capability, and trade promotion effectiveness.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5486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cross-pollinate Makassar's playbook; investigate Jakarta Timur's contraction.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FINDING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exactly are the gaps?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× Principal achievement matrix reveals specific underperforming combinations.</a:t>
            </a:r>
            <a:endParaRPr lang="en-US" sz="1200" dirty="0"/>
          </a:p>
        </p:txBody>
      </p:sp>
      <p:pic>
        <p:nvPicPr>
          <p:cNvPr id="7" name="Image 0" descr="/home/claude/portfolio/docs/editorial/04_achievement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77440"/>
            <a:ext cx="77724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869680" y="3108960"/>
            <a:ext cx="2743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8116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8116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&gt;100% — achieved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869680" y="3886200"/>
            <a:ext cx="274320" cy="27432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811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2811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90–100% — near target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869680" y="4663440"/>
            <a:ext cx="274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8116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28116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90% — investigate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69680" y="5212080"/>
            <a:ext cx="2560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869680" y="56692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branch–principal pairs are bleeding revenue and act on the root cause: pricing, distribution, or sales skill.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action.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4924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640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1078992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44952"/>
            <a:ext cx="182880" cy="182880"/>
          </a:xfrm>
          <a:prstGeom prst="ellipse">
            <a:avLst/>
          </a:prstGeom>
          <a:solidFill>
            <a:srgbClr val="B84A2E"/>
          </a:solidFill>
          <a:ln w="12700">
            <a:solidFill>
              <a:srgbClr val="B84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Stockout prevention for Class A SKUs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926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safety stock to 2× daily avg for top 10 SKUs; real-time alerts &lt;30% buffer.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640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+2–3% revenue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5661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73075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57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Pareto-driven sales targeting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611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Re-segment outlets; 80% of effort on Class A buyers; cross-sell Class B.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6404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revenue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519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41655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Lebaran campaign optimization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4297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Q1 inventory + marketing budget; capture predictable +29.6% uplift.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6404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+3–4% revenue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49377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5102352"/>
            <a:ext cx="182880" cy="1828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029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2588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97480" y="4983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Diversify principal mix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4983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Nestle dependency (46%) by expanding Mayora &amp; Indofood programs.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6404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56235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897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total impact:  </a:t>
            </a:r>
            <a:pPr indent="0" marL="0">
              <a:buNone/>
            </a:pPr>
            <a:r>
              <a:rPr lang="en-US" sz="1100" b="1" i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to +12% revenue growth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current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DELIVERABLES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the repository.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679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0" y="2724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CSVs · 15,806 transactions · 24 months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91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273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pipeline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33192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Python scripts with profiling logs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84048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867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39136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business-question queries (SQLite-compatible)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80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462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visualizations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0" y="45079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Editorial-grade charts (matplotlib + seaborn)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02920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074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056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dashboard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0" y="5102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— build guide included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6235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669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6509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0" y="56967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Business insights · Reproduce guide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621792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used.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funcs · CTEs · Pareto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8328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pipeline ·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+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8076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Editorial-grade charts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Public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77824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440680"/>
            <a:ext cx="1078992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486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data/generate_data.py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sqlite3 fmcg.db &lt; sql/01_schema_and_load.sql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jupyter notebook python/fmcg_sales_analysis.ipynb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FMCG ANALYTICS PORTFOLIO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21945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3657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to data analyst &amp; BI analyst opportunities.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572000"/>
            <a:ext cx="13716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5166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your.email@example.com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linkedin.com/in/yourname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897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github.com/[your-username]/fmcg-sales-portfolio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FMCG Sales Performance Analytics</dc:title>
  <dc:subject>PptxGenJS Presentation</dc:subject>
  <dc:creator>Filza Dikaputra</dc:creator>
  <cp:lastModifiedBy>Filza Dikaputra</cp:lastModifiedBy>
  <cp:revision>1</cp:revision>
  <dcterms:created xsi:type="dcterms:W3CDTF">2026-05-02T08:13:50Z</dcterms:created>
  <dcterms:modified xsi:type="dcterms:W3CDTF">2026-05-02T08:13:50Z</dcterms:modified>
</cp:coreProperties>
</file>